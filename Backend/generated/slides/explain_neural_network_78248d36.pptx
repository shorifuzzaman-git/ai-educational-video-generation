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6400800" cy="12801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142337"/>
                </a:solidFill>
                <a:latin typeface="Aptos"/>
              </a:rPr>
              <a:t>Neural Networks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965960"/>
            <a:ext cx="5669280" cy="9144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697078"/>
                </a:solidFill>
                <a:latin typeface="Aptos"/>
              </a:rPr>
              <a:t>The foundation of modern AI</a:t>
            </a:r>
          </a:p>
        </p:txBody>
      </p:sp>
      <p:pic>
        <p:nvPicPr>
          <p:cNvPr id="4" name="Picture 3" descr="slide_1_hero_660x7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502920"/>
            <a:ext cx="5029200" cy="5349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" y="3840480"/>
            <a:ext cx="5303520" cy="1051560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041648"/>
            <a:ext cx="18288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464B4"/>
                </a:solidFill>
                <a:latin typeface="Aptos"/>
              </a:rPr>
              <a:t>KEY TAKEAWAY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43400"/>
            <a:ext cx="475488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32A32"/>
                </a:solidFill>
                <a:latin typeface="Aptos"/>
              </a:rPr>
              <a:t>Neural networks power modern AI breakthroughs.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6547104"/>
            <a:ext cx="9601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Sources: Goodfellow et al., 2016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28816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42337"/>
                </a:solidFill>
                <a:latin typeface="Aptos"/>
              </a:rPr>
              <a:t>What Is a Neural Network?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97078"/>
                </a:solidFill>
                <a:latin typeface="Aptos"/>
              </a:rPr>
              <a:t>Computational model inspired by the 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6440" y="5440680"/>
            <a:ext cx="56692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42337"/>
                </a:solidFill>
                <a:latin typeface="Aptos"/>
              </a:rPr>
              <a:t>Layers of weighted neurons enable learning from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47104"/>
            <a:ext cx="9601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Sources: DeepLearning.ai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42337"/>
                </a:solidFill>
                <a:latin typeface="Aptos"/>
              </a:rPr>
              <a:t>Rapid Growth of Deep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97078"/>
                </a:solidFill>
                <a:latin typeface="Aptos"/>
              </a:rPr>
              <a:t>From research to industry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926080" cy="1645920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246888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3464B4"/>
                </a:solidFill>
                <a:latin typeface="Aptos"/>
              </a:rPr>
              <a:t>70%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77440"/>
            <a:ext cx="24688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42337"/>
                </a:solidFill>
                <a:latin typeface="Aptos"/>
              </a:rPr>
              <a:t>AI papers using deep learning (2023)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97480"/>
            <a:ext cx="24688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800" b="0">
                <a:solidFill>
                  <a:srgbClr val="697078"/>
                </a:solidFill>
                <a:latin typeface="Aptos"/>
              </a:rPr>
              <a:t>Share of AI research papers that employed deep neural networks.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554480"/>
            <a:ext cx="2926080" cy="1645920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783080"/>
            <a:ext cx="246888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3464B4"/>
                </a:solidFill>
                <a:latin typeface="Aptos"/>
              </a:rPr>
              <a:t>175B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377440"/>
            <a:ext cx="24688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42337"/>
                </a:solidFill>
                <a:latin typeface="Aptos"/>
              </a:rPr>
              <a:t>Parameters in GPT-3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697480"/>
            <a:ext cx="24688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800" b="0">
                <a:solidFill>
                  <a:srgbClr val="697078"/>
                </a:solidFill>
                <a:latin typeface="Aptos"/>
              </a:rPr>
              <a:t>Number of trainable parameters, showing model scale.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6547104"/>
            <a:ext cx="9601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Sources: Nature AI Survey 2021, OpenAI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28816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42337"/>
                </a:solidFill>
                <a:latin typeface="Aptos"/>
              </a:rPr>
              <a:t>How Neural Networks Learn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97078"/>
                </a:solidFill>
                <a:latin typeface="Aptos"/>
              </a:rPr>
              <a:t>Training, validation, inference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26867" y="2057400"/>
            <a:ext cx="19659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85235" y="1572768"/>
            <a:ext cx="640080" cy="640080"/>
          </a:xfrm>
          <a:prstGeom prst="ellipse">
            <a:avLst/>
          </a:prstGeom>
          <a:solidFill>
            <a:srgbClr val="34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85235" y="1746504"/>
            <a:ext cx="640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91459" y="2423160"/>
            <a:ext cx="1636776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9747" y="3017520"/>
            <a:ext cx="1600200" cy="11887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697078"/>
                </a:solidFill>
                <a:latin typeface="Aptos"/>
              </a:rPr>
              <a:t>Labeled examples that teach the model patterns.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92827" y="2971800"/>
            <a:ext cx="32004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3464B4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12867" y="2057400"/>
            <a:ext cx="19659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71235" y="1572768"/>
            <a:ext cx="640080" cy="640080"/>
          </a:xfrm>
          <a:prstGeom prst="ellipse">
            <a:avLst/>
          </a:prstGeom>
          <a:solidFill>
            <a:srgbClr val="34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71235" y="1746504"/>
            <a:ext cx="640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7459" y="2423160"/>
            <a:ext cx="1636776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95747" y="3017520"/>
            <a:ext cx="1600200" cy="11887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697078"/>
                </a:solidFill>
                <a:latin typeface="Aptos"/>
              </a:rPr>
              <a:t>Architecture of layers and neurons being optimized.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78827" y="2971800"/>
            <a:ext cx="32004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3464B4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98867" y="2057400"/>
            <a:ext cx="19659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7235" y="1572768"/>
            <a:ext cx="640080" cy="640080"/>
          </a:xfrm>
          <a:prstGeom prst="ellipse">
            <a:avLst/>
          </a:prstGeom>
          <a:solidFill>
            <a:srgbClr val="34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7235" y="1746504"/>
            <a:ext cx="640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3459" y="2423160"/>
            <a:ext cx="1636776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1747" y="3017520"/>
            <a:ext cx="1600200" cy="11887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697078"/>
                </a:solidFill>
                <a:latin typeface="Aptos"/>
              </a:rPr>
              <a:t>Metrics on validation set to gauge generalization.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6547104"/>
            <a:ext cx="9601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Sources: MIT Deep Learning Lecture 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28816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3272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3200" b="1">
                <a:solidFill>
                  <a:srgbClr val="142337"/>
                </a:solidFill>
                <a:latin typeface="Aptos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600" b="0">
                <a:solidFill>
                  <a:srgbClr val="697078"/>
                </a:solidFill>
                <a:latin typeface="Aptos"/>
              </a:rPr>
              <a:t>Why neural networks matter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834640"/>
            <a:ext cx="85039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94560" y="3200400"/>
            <a:ext cx="7772400" cy="6400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42337"/>
                </a:solidFill>
                <a:latin typeface="Aptos"/>
              </a:rPr>
              <a:t>Neural networks are central to modern AI breakthroughs.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47104"/>
            <a:ext cx="9601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Sources: Goodfellow et al., 2016, DeepLearning.ai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28816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