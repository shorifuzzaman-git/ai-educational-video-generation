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Networks: The Engine of Modern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Understanding the basics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power many AI breakthroughs.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Layers of interconnected neurons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Neural networks learn by adjusting weighted connections across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Key Performance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From early perceptrons to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15.3%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ImageNet top‑5 error (2012)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AlexNet reduced error to 15.3% in 2012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54480"/>
            <a:ext cx="2926080" cy="164592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4688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800" b="1">
                <a:solidFill>
                  <a:srgbClr val="3464B4"/>
                </a:solidFill>
                <a:latin typeface="Aptos"/>
              </a:rPr>
              <a:t>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24688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337"/>
                </a:solidFill>
                <a:latin typeface="Aptos"/>
              </a:rPr>
              <a:t>ImageNet top‑5 error (2015)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2468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0">
                <a:solidFill>
                  <a:srgbClr val="697078"/>
                </a:solidFill>
                <a:latin typeface="Aptos"/>
              </a:rPr>
              <a:t>ResNet‑152 achieved 3.6% top‑5 error in 2015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Krizhevsky et al., 2012, He et al., 2015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Real‑World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Where neural networks are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08760"/>
            <a:ext cx="64008" cy="4480560"/>
          </a:xfrm>
          <a:prstGeom prst="rect">
            <a:avLst/>
          </a:prstGeom>
          <a:solidFill>
            <a:srgbClr val="34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tonomous_vehicle_camera_detecting_pedestrians_304x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73351"/>
            <a:ext cx="2322576" cy="1051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Computer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Object detection, image classification, facial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508760"/>
            <a:ext cx="64008" cy="4480560"/>
          </a:xfrm>
          <a:prstGeom prst="rect">
            <a:avLst/>
          </a:prstGeom>
          <a:solidFill>
            <a:srgbClr val="2B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erson_using_voice_assistant_smartphone_304x1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1673351"/>
            <a:ext cx="2322576" cy="1051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016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Natural Language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Chatbots, translation, sentiment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64008" cy="4480560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udio_microphone_with_speech_waveform_304x1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1673351"/>
            <a:ext cx="2322576" cy="1051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480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Speech 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Transcribing audio, virtual assistants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508760"/>
            <a:ext cx="2651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508760"/>
            <a:ext cx="64008" cy="4480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adiologist_reviewing_MRI_scan_304x13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1673351"/>
            <a:ext cx="2322576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99448" y="2862072"/>
            <a:ext cx="22860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Healthcare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00984"/>
            <a:ext cx="2286000" cy="2578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97078"/>
                </a:solidFill>
                <a:latin typeface="Aptos"/>
              </a:rPr>
              <a:t>Medical imaging diagnosis, drug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200" b="1">
                <a:solidFill>
                  <a:srgbClr val="142337"/>
                </a:solidFill>
                <a:latin typeface="Aptos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600" b="0">
                <a:solidFill>
                  <a:srgbClr val="697078"/>
                </a:solidFill>
                <a:latin typeface="Aptos"/>
              </a:rPr>
              <a:t>Core concepts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834640"/>
            <a:ext cx="85039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3200400"/>
            <a:ext cx="7772400" cy="6400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42337"/>
                </a:solidFill>
                <a:latin typeface="Aptos"/>
              </a:rPr>
              <a:t>Neural networks learn patterns through layered computation.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Goodfellow et al., 2016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