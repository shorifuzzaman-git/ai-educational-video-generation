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640080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42337"/>
                </a:solidFill>
                <a:latin typeface="Aptos"/>
              </a:rPr>
              <a:t>Neural Networks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65960"/>
            <a:ext cx="566928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697078"/>
                </a:solidFill>
                <a:latin typeface="Aptos"/>
              </a:rPr>
              <a:t>A foundation of modern AI</a:t>
            </a:r>
          </a:p>
        </p:txBody>
      </p:sp>
      <p:pic>
        <p:nvPicPr>
          <p:cNvPr id="4" name="Picture 3" descr="slide_1_hero_660x7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5029200" cy="5349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3840480"/>
            <a:ext cx="5303520" cy="105156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41648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464B4"/>
                </a:solidFill>
                <a:latin typeface="Aptos"/>
              </a:rP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4754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A32"/>
                </a:solidFill>
                <a:latin typeface="Aptos"/>
              </a:rPr>
              <a:t>Neural networks power many AI breakthroughs.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What Is a Neural Network?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Inspired by the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6440" y="5440680"/>
            <a:ext cx="56692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337"/>
                </a:solidFill>
                <a:latin typeface="Aptos"/>
              </a:rPr>
              <a:t>Neurons, layers, and weights form the core of a network.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Growth of Modern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Size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175 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GPT‑3 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Number of trainable weights in OpenAI's GPT‑3 model (2020).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15 %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ImageNet Top‑5 Error 2012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Error rate of early convolutional networks on ImageNet.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3 %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ImageNet Top‑5 Error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Error rate of state‑of‑the‑art models on ImageNet.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OpenAI, ImageNet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How Networks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From data to predictions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69867" y="2057400"/>
            <a:ext cx="1965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28235" y="1572768"/>
            <a:ext cx="640080" cy="640080"/>
          </a:xfrm>
          <a:prstGeom prst="ellipse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28235" y="1746504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4459" y="2423160"/>
            <a:ext cx="1636776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Data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2747" y="3017520"/>
            <a:ext cx="16002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697078"/>
                </a:solidFill>
                <a:latin typeface="Aptos"/>
              </a:rPr>
              <a:t>Clean, label, and augment data to improve model robustness.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5827" y="2971800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464B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2057400"/>
            <a:ext cx="1965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14235" y="1572768"/>
            <a:ext cx="640080" cy="640080"/>
          </a:xfrm>
          <a:prstGeom prst="ellipse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14235" y="1746504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0459" y="2423160"/>
            <a:ext cx="1636776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337"/>
                </a:solidFill>
                <a:latin typeface="Aptos"/>
              </a:rPr>
              <a:t>Model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47" y="3017520"/>
            <a:ext cx="16002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697078"/>
                </a:solidFill>
                <a:latin typeface="Aptos"/>
              </a:rPr>
              <a:t>Use optimizers, learning‑rate schedules, and regularization.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MIT Deep Learning Handbook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3272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200" b="1">
                <a:solidFill>
                  <a:srgbClr val="142337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697078"/>
                </a:solidFill>
                <a:latin typeface="Aptos"/>
              </a:rPr>
              <a:t>Why neural networks matter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834640"/>
            <a:ext cx="85039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3200400"/>
            <a:ext cx="777240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42337"/>
                </a:solidFill>
                <a:latin typeface="Aptos"/>
              </a:rPr>
              <a:t>Neural networks drive today’s AI and future advances.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